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07052"/>
                </a:solidFill>
                <a:latin typeface="Aptos"/>
              </a:rPr>
              <a:t>MARKET ENTRY • PRODUCT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02426"/>
                </a:solidFill>
                <a:latin typeface="Aptos"/>
              </a:rPr>
              <a:t>CRUNCH+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38528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5C6366"/>
                </a:solidFill>
                <a:latin typeface="Aptos"/>
              </a:rPr>
              <a:t>A ₹59 everyday protein-forward snack built around
Indian ingredients, not a premium gym-only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95160" y="1097280"/>
            <a:ext cx="4434840" cy="1234440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234439"/>
            <a:ext cx="4069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645919"/>
            <a:ext cx="4069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Roasted makhana + chana + peanuts in familiar Indian flavours. A single pack can work at home, in a school/college bag, after sport or as an office snack.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2578608"/>
            <a:ext cx="4434840" cy="1234440"/>
          </a:xfrm>
          <a:prstGeom prst="roundRect">
            <a:avLst/>
          </a:prstGeom>
          <a:solidFill>
            <a:srgbClr val="F7E8D7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715768"/>
            <a:ext cx="4069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D27A31"/>
                </a:solidFill>
                <a:latin typeface="Aptos"/>
              </a:rPr>
              <a:t>MRP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127248"/>
            <a:ext cx="4069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₹59 • 40 g trial pack
₹129 • 100 g sharing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4059936"/>
            <a:ext cx="4434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4197096"/>
            <a:ext cx="4069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608576"/>
            <a:ext cx="4069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Bengaluru → Hyderabad → Pune
Quick commerce + gyms + offices + selected retail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4476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366"/>
                </a:solidFill>
                <a:latin typeface="Aptos"/>
              </a:rPr>
              <a:t>Portfolio / PGDM market-entry case •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36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07052"/>
                </a:solidFill>
                <a:latin typeface="Aptos"/>
              </a:rPr>
              <a:t>01 • WHY THIS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6"/>
                </a:solidFill>
                <a:latin typeface="Aptos"/>
              </a:rPr>
              <a:t>The opportunity is the gap between “healthy” and “affordable enough to eat often”.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C6366"/>
                </a:solidFill>
                <a:latin typeface="Aptos"/>
              </a:rPr>
              <a:t>The category is growing, but consumers still want taste, convenience and a sensible price.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60320" cy="1920240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₹27,065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Estimated Indian healthy-snack market in 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60320" cy="1920240"/>
          </a:xfrm>
          <a:prstGeom prst="roundRect">
            <a:avLst/>
          </a:prstGeom>
          <a:solidFill>
            <a:srgbClr val="F7E8D7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D27A31"/>
                </a:solidFill>
                <a:latin typeface="Aptos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Survey respondents seeking functional benefits such as energy or protein.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560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94%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Want nutrition without compromising flavour.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828800"/>
            <a:ext cx="2560320" cy="1920240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59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377440"/>
            <a:ext cx="2194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Makhana's reported share of the health-snack market in the 2025 consumer study.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24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202426"/>
                </a:solidFill>
                <a:latin typeface="Aptos"/>
              </a:rPr>
              <a:t>Why CRUNCH+ instead of another protein bar?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106070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02426"/>
                </a:solidFill>
                <a:latin typeface="Aptos"/>
              </a:defRPr>
            </a:pPr>
            <a:r>
              <a:t>• Protein bars are often positioned around fitness; CRUNCH+ is positioned around an everyday snack occasion.</a:t>
            </a:r>
          </a:p>
          <a:p>
            <a:pPr>
              <a:spcAft>
                <a:spcPts val="500"/>
              </a:spcAft>
              <a:defRPr sz="1300">
                <a:solidFill>
                  <a:srgbClr val="202426"/>
                </a:solidFill>
                <a:latin typeface="Aptos"/>
              </a:defRPr>
            </a:pPr>
            <a:r>
              <a:t>• Makhana is already familiar, while chana and peanuts make the blend feel more like Indian namkeen than a supplement.</a:t>
            </a:r>
          </a:p>
          <a:p>
            <a:pPr>
              <a:spcAft>
                <a:spcPts val="500"/>
              </a:spcAft>
              <a:defRPr sz="1300">
                <a:solidFill>
                  <a:srgbClr val="202426"/>
                </a:solidFill>
                <a:latin typeface="Aptos"/>
              </a:defRPr>
            </a:pPr>
            <a:r>
              <a:t>• ₹59 keeps the trial price close to existing impulse-snack territory while offering a larger 40 g pack than several low-priced makhana options.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126480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6"/>
                </a:solidFill>
                <a:latin typeface="Aptos"/>
              </a:rPr>
              <a:t>Sources / assumptions: IBEF/Farmley consumer study, July 2025; IBEF FMCG/healthy-snacking market data,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36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07052"/>
                </a:solidFill>
                <a:latin typeface="Aptos"/>
              </a:rPr>
              <a:t>02 • WHO BUYS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6"/>
                </a:solidFill>
                <a:latin typeface="Aptos"/>
              </a:rPr>
              <a:t>The core buyer is fitness-aware — but the product is designed for the whole household.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057400" cy="2240280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Young adults who want a better 4–6 PM or commute snack without paying protein-bar prices.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3774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School/college athletes and recreational sports players who want a convenient snack around practice.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828800"/>
            <a:ext cx="2057400" cy="2240280"/>
          </a:xfrm>
          <a:prstGeom prst="roundRect">
            <a:avLst/>
          </a:prstGeom>
          <a:solidFill>
            <a:srgbClr val="F7E8D7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D27A31"/>
                </a:solidFill>
                <a:latin typeface="Aptos"/>
              </a:rPr>
              <a:t>FITNESS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774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Gym-goers and fitness enthusiasts looking for a crunchy, portable snack.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828800"/>
            <a:ext cx="20574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KIDS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3774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For children: lunchbox / after-school positioning, subject to nutrition profile, age-appropriate formulation and FSSAI requirements.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828800"/>
            <a:ext cx="1920240" cy="2240280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37744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Parents, siblings and other household members can share the same pack.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98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426"/>
                </a:solidFill>
                <a:latin typeface="Aptos"/>
              </a:rPr>
              <a:t>The positioning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07052"/>
                </a:solidFill>
                <a:latin typeface="Aptos"/>
              </a:rPr>
              <a:t>“A better everyday crunch — for your workout, your workday, or your family snack bowl.”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126480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6"/>
                </a:solidFill>
                <a:latin typeface="Aptos"/>
              </a:rPr>
              <a:t>Sources / assumptions: Target segments are project-defined. FSSAI requires nutrition/health claims to be truthful, substantiated and not misleading; child-focused claims require additional care.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36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07052"/>
                </a:solidFill>
                <a:latin typeface="Aptos"/>
              </a:rPr>
              <a:t>03 • COMPETITIVE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6"/>
                </a:solidFill>
                <a:latin typeface="Aptos"/>
              </a:rPr>
              <a:t>₹59 only works if the consumer can see what they get for the extra ₹19–₹20.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19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7052"/>
                </a:solidFill>
                <a:latin typeface="Aptos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71907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7052"/>
                </a:solidFill>
                <a:latin typeface="Aptos"/>
              </a:rPr>
              <a:t>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719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7052"/>
                </a:solidFill>
                <a:latin typeface="Aptos"/>
              </a:rPr>
              <a:t>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7190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7052"/>
                </a:solidFill>
                <a:latin typeface="Aptos"/>
              </a:rPr>
              <a:t>WHAT IT DOES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7190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07052"/>
                </a:solidFill>
                <a:latin typeface="Aptos"/>
              </a:rPr>
              <a:t>WHERE CRUNCH+ CAN DIFFER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11679"/>
            <a:ext cx="110185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84831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MOM Pudina Makhana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84831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20 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84831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₹40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084831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Low-price makhana 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84831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40 g blend; broader snack occasion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43784"/>
            <a:ext cx="110185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169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Too Yumm Makhana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16936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16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916936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₹39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916936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Very accessible impulse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16936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Larger pack + makhana/chana/peanut blend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75887"/>
            <a:ext cx="110185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Troovy Protein Makhana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49039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40 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749039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₹40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749039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Protein positioning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749039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02426"/>
                </a:solidFill>
                <a:latin typeface="Aptos"/>
              </a:rPr>
              <a:t>₹59 can support stronger recipe, pack and flavour proposition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507992"/>
            <a:ext cx="11018520" cy="713232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8114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202426"/>
                </a:solidFill>
                <a:latin typeface="Aptos"/>
              </a:rPr>
              <a:t>CRUNCH+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581144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202426"/>
                </a:solidFill>
                <a:latin typeface="Aptos"/>
              </a:rPr>
              <a:t>40 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581144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202426"/>
                </a:solidFill>
                <a:latin typeface="Aptos"/>
              </a:rPr>
              <a:t>₹59*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581144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202426"/>
                </a:solidFill>
                <a:latin typeface="Aptos"/>
              </a:rPr>
              <a:t>Protein-forward everyday snack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581144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202426"/>
                </a:solidFill>
                <a:latin typeface="Aptos"/>
              </a:rPr>
              <a:t>Blend + household positioning + ₹59 value 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59612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20" b="1">
                <a:solidFill>
                  <a:srgbClr val="202426"/>
                </a:solidFill>
                <a:latin typeface="Aptos"/>
              </a:rPr>
              <a:t>The superiority claim is therefore NOT “healthier than everyone”. It is: more usable as an everyday snack, with a bigger 40 g serving and a mixed-ingredient proposition at a still-accessible price.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126480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6"/>
                </a:solidFill>
                <a:latin typeface="Aptos"/>
              </a:rPr>
              <a:t>Sources / assumptions: Live product listings checked Sept 18–19, 2026: Blinkit/Zepto. Prices vary by platform, promotion and location. *CRUNCH+ price is proposed.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36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07052"/>
                </a:solidFill>
                <a:latin typeface="Aptos"/>
              </a:rPr>
              <a:t>04 • ₹59 PROFIT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6"/>
                </a:solidFill>
                <a:latin typeface="Aptos"/>
              </a:rPr>
              <a:t>Where the ₹59 goes — and what the brand actually keeps.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C6366"/>
                </a:solidFill>
                <a:latin typeface="Aptos"/>
              </a:rPr>
              <a:t>This is a management model, not a supplier quotation. The HSN/GST classification and channel contracts must be validated before launch.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74519" cy="1508760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MRP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1508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₹59.00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828800"/>
            <a:ext cx="1874519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965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ILLUSTRATIVE 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77440"/>
            <a:ext cx="1508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−₹2.81
(5% model assumption)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828800"/>
            <a:ext cx="1874519" cy="1508760"/>
          </a:xfrm>
          <a:prstGeom prst="roundRect">
            <a:avLst/>
          </a:prstGeom>
          <a:solidFill>
            <a:srgbClr val="F7E8D7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965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D27A31"/>
                </a:solidFill>
                <a:latin typeface="Aptos"/>
              </a:rPr>
              <a:t>RETAILER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77440"/>
            <a:ext cx="1508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−₹11.24
(20% of pre-tax)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828800"/>
            <a:ext cx="1874519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9659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DISTRIBUTOR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77440"/>
            <a:ext cx="15087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−₹5.62
(10% of pre-tax)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828800"/>
            <a:ext cx="2331720" cy="1508760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59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BRAND REALIZATION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2377440"/>
            <a:ext cx="19659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≈ ₹39.33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426"/>
                </a:solidFill>
                <a:latin typeface="Aptos"/>
              </a:rPr>
              <a:t>Inside the brand's ₹39.33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3159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Ingredients + seasoning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315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₹13.00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943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Packaging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5994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₹4.00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828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Manufacturing / labour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88289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₹4.50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6635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Freight + wastage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16635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₹2.50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982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Allocated launch marketing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44982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₹6.00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3328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Operating contribution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573328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307052"/>
                </a:solidFill>
                <a:latin typeface="Aptos"/>
              </a:rPr>
              <a:t>₹9.33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29768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07052"/>
                </a:solidFill>
                <a:latin typeface="Aptos"/>
              </a:rPr>
              <a:t>≈ 15.8% of MRP becomes operating contribution after the modelled costs.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6636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202426"/>
                </a:solidFill>
                <a:latin typeface="Aptos"/>
              </a:rPr>
              <a:t>Key lesson: at ₹59, cost discipline matters more than chasing a huge margin. Repeat purchase is what makes the model attractive.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126480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6"/>
                </a:solidFill>
                <a:latin typeface="Aptos"/>
              </a:rPr>
              <a:t>Sources / assumptions: 5% GST is used only as a modelling assumption; actual GST depends on final HSN/classification. Retailer/distributor margins and all cost lines are project assumptions.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36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07052"/>
                </a:solidFill>
                <a:latin typeface="Aptos"/>
              </a:rPr>
              <a:t>05 • WHERE &amp; HOW TO SELL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6"/>
                </a:solidFill>
                <a:latin typeface="Aptos"/>
              </a:rPr>
              <a:t>Go where the snack moment already happens.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06040" cy="2148840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QUICK 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Blinkit / Zepto / Instamart
Best for: impulse + replenishment
Launch in Bengaluru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606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659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GYMS +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Sampling near gyms, academies and sports clubs.
Best for: credibility + trial.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606040" cy="2148840"/>
          </a:xfrm>
          <a:prstGeom prst="roundRect">
            <a:avLst/>
          </a:prstGeom>
          <a:solidFill>
            <a:srgbClr val="F7E8D7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D27A31"/>
                </a:solidFill>
                <a:latin typeface="Aptos"/>
              </a:rPr>
              <a:t>OFFICES + CAMPUSES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Cafés, vending, college stores and office clusters.
Best for: daily snack occasions.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828800"/>
            <a:ext cx="25146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1965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HOME / RETAIL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2377440"/>
            <a:ext cx="2148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Modern trade + neighbourhood stores after repeat demand is proven.
Best for: household penetration.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426"/>
                </a:solidFill>
                <a:latin typeface="Aptos"/>
              </a:rPr>
              <a:t>City rollout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424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02426"/>
                </a:solidFill>
                <a:latin typeface="Aptos"/>
              </a:defRPr>
            </a:pPr>
            <a:r>
              <a:t>• Bengaluru: 90-day pilot.</a:t>
            </a:r>
          </a:p>
          <a:p>
            <a:pPr>
              <a:spcAft>
                <a:spcPts val="500"/>
              </a:spcAft>
              <a:defRPr sz="1350">
                <a:solidFill>
                  <a:srgbClr val="202426"/>
                </a:solidFill>
                <a:latin typeface="Aptos"/>
              </a:defRPr>
            </a:pPr>
            <a:r>
              <a:t>• Hyderabad + Pune: enter after the first repeat-purchase gate.</a:t>
            </a:r>
          </a:p>
          <a:p>
            <a:pPr>
              <a:spcAft>
                <a:spcPts val="500"/>
              </a:spcAft>
              <a:defRPr sz="1350">
                <a:solidFill>
                  <a:srgbClr val="202426"/>
                </a:solidFill>
                <a:latin typeface="Aptos"/>
              </a:defRPr>
            </a:pPr>
            <a:r>
              <a:t>• Mumbai + Delhi NCR: expansion only after unit economics and repeat rates 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126480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6"/>
                </a:solidFill>
                <a:latin typeface="Aptos"/>
              </a:rPr>
              <a:t>Sources / assumptions: NIQ/IBEF reports e-commerce at about 18% of FMCG sales across India's top eight metros in Oct–Dec 2025; city sequence is a project inference.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36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07052"/>
                </a:solidFill>
                <a:latin typeface="Aptos"/>
              </a:rPr>
              <a:t>06 • 90-DAY PROMOTION &amp;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6"/>
                </a:solidFill>
                <a:latin typeface="Aptos"/>
              </a:rPr>
              <a:t>Spend the first ₹30 lakh on learning, trial and repeat — not just impressions.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105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2426"/>
                </a:solidFill>
                <a:latin typeface="Aptos"/>
              </a:rPr>
              <a:t>Digital performance 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1837943"/>
            <a:ext cx="4800600" cy="201168"/>
          </a:xfrm>
          <a:prstGeom prst="rect">
            <a:avLst/>
          </a:prstGeom>
          <a:solidFill>
            <a:srgbClr val="30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17922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₹6.5L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2426"/>
                </a:solidFill>
                <a:latin typeface="Aptos"/>
              </a:rPr>
              <a:t>Micro-influencers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2267712"/>
            <a:ext cx="2954215" cy="201168"/>
          </a:xfrm>
          <a:prstGeom prst="rect">
            <a:avLst/>
          </a:prstGeom>
          <a:solidFill>
            <a:srgbClr val="30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20" y="22219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₹4.0L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2426"/>
                </a:solidFill>
                <a:latin typeface="Aptos"/>
              </a:rPr>
              <a:t>Sampling / sports &amp; gym trials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697479"/>
            <a:ext cx="3692769" cy="201168"/>
          </a:xfrm>
          <a:prstGeom prst="rect">
            <a:avLst/>
          </a:prstGeom>
          <a:solidFill>
            <a:srgbClr val="30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651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₹5.0L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5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2426"/>
                </a:solidFill>
                <a:latin typeface="Aptos"/>
              </a:rPr>
              <a:t>Quick-commerce visibility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3127247"/>
            <a:ext cx="3323492" cy="201168"/>
          </a:xfrm>
          <a:prstGeom prst="rect">
            <a:avLst/>
          </a:prstGeom>
          <a:solidFill>
            <a:srgbClr val="30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3081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₹4.5L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2958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2426"/>
                </a:solidFill>
                <a:latin typeface="Aptos"/>
              </a:rPr>
              <a:t>Retail POS / placement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557015"/>
            <a:ext cx="1846384" cy="201168"/>
          </a:xfrm>
          <a:prstGeom prst="rect">
            <a:avLst/>
          </a:prstGeom>
          <a:solidFill>
            <a:srgbClr val="30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51129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₹2.5L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5935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2426"/>
                </a:solidFill>
                <a:latin typeface="Aptos"/>
              </a:rPr>
              <a:t>Creative + 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986783"/>
            <a:ext cx="1477107" cy="201168"/>
          </a:xfrm>
          <a:prstGeom prst="rect">
            <a:avLst/>
          </a:prstGeom>
          <a:solidFill>
            <a:srgbClr val="30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394106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₹2.0L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1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2426"/>
                </a:solidFill>
                <a:latin typeface="Aptos"/>
              </a:rPr>
              <a:t>Consumer research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416551"/>
            <a:ext cx="1477107" cy="201168"/>
          </a:xfrm>
          <a:prstGeom prst="rect">
            <a:avLst/>
          </a:prstGeom>
          <a:solidFill>
            <a:srgbClr val="30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43708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₹2.0L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1888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02426"/>
                </a:solidFill>
                <a:latin typeface="Aptos"/>
              </a:rPr>
              <a:t>Contingency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4846319"/>
            <a:ext cx="2584938" cy="201168"/>
          </a:xfrm>
          <a:prstGeom prst="rect">
            <a:avLst/>
          </a:prstGeom>
          <a:solidFill>
            <a:srgbClr val="307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480059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20" b="1">
                <a:solidFill>
                  <a:srgbClr val="202426"/>
                </a:solidFill>
                <a:latin typeface="Aptos"/>
              </a:rPr>
              <a:t>₹3.5L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53583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5C6366"/>
                </a:solidFill>
                <a:latin typeface="Aptos"/>
              </a:rPr>
              <a:t>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528523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>
                <a:solidFill>
                  <a:srgbClr val="D27A31"/>
                </a:solidFill>
                <a:latin typeface="Aptos"/>
              </a:rPr>
              <a:t>₹30.0 Lakh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7052"/>
                </a:solidFill>
                <a:latin typeface="Aptos"/>
              </a:rPr>
              <a:t>Campaign idea: “Snack Break, Upgraded”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71032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5C6366"/>
                </a:solidFill>
                <a:latin typeface="Aptos"/>
              </a:rPr>
              <a:t>Show real moments: gym → office → school/college → family tea time. The message is not “be healthy”; it is “swap one ordinary snack for a better one.”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36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307052"/>
                </a:solidFill>
                <a:latin typeface="Aptos"/>
              </a:rPr>
              <a:t>07 • LAUNCH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6"/>
                </a:solidFill>
                <a:latin typeface="Aptos"/>
              </a:rPr>
              <a:t>The project wins only if people buy it twice.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60320" cy="1965960"/>
          </a:xfrm>
          <a:prstGeom prst="roundRect">
            <a:avLst/>
          </a:prstGeom>
          <a:solidFill>
            <a:srgbClr val="E2EFE6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20,000+ packs in 90 days
Track by city, channel and flavour.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REPEAT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774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Target 25%+ repeat among identifiable buyers.
If low → fix taste/price/pack.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560320" cy="1965960"/>
          </a:xfrm>
          <a:prstGeom prst="roundRect">
            <a:avLst/>
          </a:prstGeom>
          <a:solidFill>
            <a:srgbClr val="F7E8D7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D27A31"/>
                </a:solidFill>
                <a:latin typeface="Aptos"/>
              </a:rPr>
              <a:t>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Keep the ₹59 model contribution-positive after channel costs.
If weak → reduce CAC or COGS.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828800"/>
            <a:ext cx="25603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7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59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307052"/>
                </a:solidFill>
                <a:latin typeface="Aptos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23774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202426"/>
                </a:solidFill>
                <a:latin typeface="Aptos"/>
              </a:rPr>
              <a:t>Add Hyderabad + Pune only after the pilot gate is passed.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15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02426"/>
                </a:solidFill>
                <a:latin typeface="Aptos"/>
              </a:rPr>
              <a:t>What makes CRUNCH+ different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8172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202426"/>
                </a:solidFill>
                <a:latin typeface="Aptos"/>
              </a:defRPr>
            </a:pPr>
            <a:r>
              <a:t>• Not a medical or supplement product.</a:t>
            </a:r>
          </a:p>
          <a:p>
            <a:pPr>
              <a:spcAft>
                <a:spcPts val="500"/>
              </a:spcAft>
              <a:defRPr sz="1280">
                <a:solidFill>
                  <a:srgbClr val="202426"/>
                </a:solidFill>
                <a:latin typeface="Aptos"/>
              </a:defRPr>
            </a:pPr>
            <a:r>
              <a:t>• Not only for gym-goers: the same pack can sit in a school/college bag, office drawer or home snack bowl.</a:t>
            </a:r>
          </a:p>
          <a:p>
            <a:pPr>
              <a:spcAft>
                <a:spcPts val="500"/>
              </a:spcAft>
              <a:defRPr sz="1280">
                <a:solidFill>
                  <a:srgbClr val="202426"/>
                </a:solidFill>
                <a:latin typeface="Aptos"/>
              </a:defRPr>
            </a:pPr>
            <a:r>
              <a:t>• Not positioned as “the healthiest” — superiority is based on the combination of price, pack size, familiar ingredients and use occasions.</a:t>
            </a:r>
          </a:p>
          <a:p>
            <a:pPr>
              <a:spcAft>
                <a:spcPts val="500"/>
              </a:spcAft>
              <a:defRPr sz="1280">
                <a:solidFill>
                  <a:srgbClr val="202426"/>
                </a:solidFill>
                <a:latin typeface="Aptos"/>
              </a:defRPr>
            </a:pPr>
            <a:r>
              <a:t>• Any protein/health claim and child-facing communication must be validated against the final formulation and FSSAI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126480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6"/>
                </a:solidFill>
                <a:latin typeface="Aptos"/>
              </a:rPr>
              <a:t>Sources / assumptions: FSSAI Advertising &amp; Claims regulations; live competitor listings; IBEF/Farmley healthy-snacking study. Targets and strategy are project assumptions.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2823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C636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