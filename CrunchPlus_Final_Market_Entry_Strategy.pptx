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9436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307052"/>
                </a:solidFill>
                <a:latin typeface="Aptos"/>
              </a:rPr>
              <a:t>MARKET ENTRY • PRODUCT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202426"/>
                </a:solidFill>
                <a:latin typeface="Aptos"/>
              </a:rPr>
              <a:t>CRUNCH+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938528"/>
            <a:ext cx="6035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5C6366"/>
                </a:solidFill>
                <a:latin typeface="Aptos"/>
              </a:rPr>
              <a:t>A ₹59 everyday protein-forward snack built around
Indian ingredients, not a premium gym-only product.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995160" y="1097280"/>
            <a:ext cx="4434840" cy="1234440"/>
          </a:xfrm>
          <a:prstGeom prst="roundRect">
            <a:avLst/>
          </a:prstGeom>
          <a:solidFill>
            <a:srgbClr val="E2EFE6"/>
          </a:solidFill>
          <a:ln>
            <a:solidFill>
              <a:srgbClr val="D7D6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78040" y="1234439"/>
            <a:ext cx="4069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307052"/>
                </a:solidFill>
                <a:latin typeface="Aptos"/>
              </a:rPr>
              <a:t>THE IDEA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78040" y="1645919"/>
            <a:ext cx="40690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20" b="0">
                <a:solidFill>
                  <a:srgbClr val="202426"/>
                </a:solidFill>
                <a:latin typeface="Aptos"/>
              </a:rPr>
              <a:t>Roasted makhana + chana + peanuts in familiar Indian flavours. A single pack can work at home, in a school/college bag, after sport or as an office snack.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95160" y="2578608"/>
            <a:ext cx="4434840" cy="1234440"/>
          </a:xfrm>
          <a:prstGeom prst="roundRect">
            <a:avLst/>
          </a:prstGeom>
          <a:solidFill>
            <a:srgbClr val="F7E8D7"/>
          </a:solidFill>
          <a:ln>
            <a:solidFill>
              <a:srgbClr val="D7D6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78040" y="2715768"/>
            <a:ext cx="4069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D27A31"/>
                </a:solidFill>
                <a:latin typeface="Aptos"/>
              </a:rPr>
              <a:t>MRP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8040" y="3127248"/>
            <a:ext cx="40690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20" b="0">
                <a:solidFill>
                  <a:srgbClr val="202426"/>
                </a:solidFill>
                <a:latin typeface="Aptos"/>
              </a:rPr>
              <a:t>₹59 • 40 g trial pack
₹129 • 100 g sharing pack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95160" y="4059936"/>
            <a:ext cx="443484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7D6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78040" y="4197096"/>
            <a:ext cx="4069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307052"/>
                </a:solidFill>
                <a:latin typeface="Aptos"/>
              </a:rPr>
              <a:t>LAUNCH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78040" y="4608576"/>
            <a:ext cx="406907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20" b="0">
                <a:solidFill>
                  <a:srgbClr val="202426"/>
                </a:solidFill>
                <a:latin typeface="Aptos"/>
              </a:rPr>
              <a:t>Bengaluru → Hyderabad → Pune
Quick commerce + gyms + offices + selected retail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6144768"/>
            <a:ext cx="5212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dirty="0">
                <a:solidFill>
                  <a:srgbClr val="5C6366"/>
                </a:solidFill>
                <a:latin typeface="Aptos"/>
              </a:rPr>
              <a:t>Portfolio / PGDM market-entry case •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01400" y="6428232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5C6366"/>
                </a:solidFill>
                <a:latin typeface="Aptos"/>
              </a:rPr>
              <a:t>01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C4EDCAB-4D88-C798-4812-7F7DE416C4FE}"/>
              </a:ext>
            </a:extLst>
          </p:cNvPr>
          <p:cNvSpPr txBox="1"/>
          <p:nvPr/>
        </p:nvSpPr>
        <p:spPr>
          <a:xfrm>
            <a:off x="850392" y="4608576"/>
            <a:ext cx="41574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By</a:t>
            </a:r>
            <a:br>
              <a:rPr lang="en-IN" dirty="0"/>
            </a:br>
            <a:r>
              <a:rPr lang="en-IN" dirty="0"/>
              <a:t>Mahesh Singh Chauhan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01752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307052"/>
                </a:solidFill>
                <a:latin typeface="Aptos"/>
              </a:rPr>
              <a:t>01 • WHY THIS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159764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202426"/>
                </a:solidFill>
                <a:latin typeface="Aptos"/>
              </a:rPr>
              <a:t>The opportunity is the gap between “healthy” and “affordable enough to eat often”.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99032"/>
            <a:ext cx="10835640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dirty="0">
                <a:solidFill>
                  <a:srgbClr val="5C6366"/>
                </a:solidFill>
                <a:latin typeface="Aptos"/>
              </a:rPr>
              <a:t>The category is growing, but consumers still want taste, convenience and a sensible price.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560320" cy="1920240"/>
          </a:xfrm>
          <a:prstGeom prst="roundRect">
            <a:avLst/>
          </a:prstGeom>
          <a:solidFill>
            <a:srgbClr val="E2EFE6"/>
          </a:solidFill>
          <a:ln>
            <a:solidFill>
              <a:srgbClr val="D7D6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59" y="196596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307052"/>
                </a:solidFill>
                <a:latin typeface="Aptos"/>
              </a:rPr>
              <a:t>₹27,065 Cr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377440"/>
            <a:ext cx="21945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20" b="0">
                <a:solidFill>
                  <a:srgbClr val="202426"/>
                </a:solidFill>
                <a:latin typeface="Aptos"/>
              </a:rPr>
              <a:t>Estimated Indian healthy-snack market in 2025.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828800"/>
            <a:ext cx="2560320" cy="1920240"/>
          </a:xfrm>
          <a:prstGeom prst="roundRect">
            <a:avLst/>
          </a:prstGeom>
          <a:solidFill>
            <a:srgbClr val="F7E8D7"/>
          </a:solidFill>
          <a:ln>
            <a:solidFill>
              <a:srgbClr val="D7D6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566160" y="196596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D27A31"/>
                </a:solidFill>
                <a:latin typeface="Aptos"/>
              </a:rPr>
              <a:t>72%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377440"/>
            <a:ext cx="21945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20" b="0">
                <a:solidFill>
                  <a:srgbClr val="202426"/>
                </a:solidFill>
                <a:latin typeface="Aptos"/>
              </a:rPr>
              <a:t>Survey respondents seeking functional benefits such as energy or protein.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828800"/>
            <a:ext cx="256032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D7D6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09360" y="196596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307052"/>
                </a:solidFill>
                <a:latin typeface="Aptos"/>
              </a:rPr>
              <a:t>94%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377440"/>
            <a:ext cx="21945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20" b="0">
                <a:solidFill>
                  <a:srgbClr val="202426"/>
                </a:solidFill>
                <a:latin typeface="Aptos"/>
              </a:rPr>
              <a:t>Want nutrition without compromising flavour.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69680" y="1828800"/>
            <a:ext cx="2560320" cy="1920240"/>
          </a:xfrm>
          <a:prstGeom prst="roundRect">
            <a:avLst/>
          </a:prstGeom>
          <a:solidFill>
            <a:srgbClr val="E2EFE6"/>
          </a:solidFill>
          <a:ln>
            <a:solidFill>
              <a:srgbClr val="D7D6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052559" y="196596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307052"/>
                </a:solidFill>
                <a:latin typeface="Aptos"/>
              </a:rPr>
              <a:t>19%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59" y="2377440"/>
            <a:ext cx="21945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20" b="0">
                <a:solidFill>
                  <a:srgbClr val="202426"/>
                </a:solidFill>
                <a:latin typeface="Aptos"/>
              </a:rPr>
              <a:t>Makhana's reported share of the health-snack market in the 2025 consumer study.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22452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1">
                <a:solidFill>
                  <a:srgbClr val="202426"/>
                </a:solidFill>
                <a:latin typeface="Aptos"/>
              </a:rPr>
              <a:t>Why CRUNCH+ instead of another protein bar?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10607040" cy="8207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202426"/>
                </a:solidFill>
                <a:latin typeface="Aptos"/>
              </a:defRPr>
            </a:pPr>
            <a:r>
              <a:rPr dirty="0"/>
              <a:t>• Protein bars are often positioned around fitness CRUNCH+ is positioned around an everyday snack occasion.</a:t>
            </a:r>
          </a:p>
          <a:p>
            <a:pPr>
              <a:spcAft>
                <a:spcPts val="500"/>
              </a:spcAft>
              <a:defRPr sz="1300">
                <a:solidFill>
                  <a:srgbClr val="202426"/>
                </a:solidFill>
                <a:latin typeface="Aptos"/>
              </a:defRPr>
            </a:pPr>
            <a:r>
              <a:rPr dirty="0"/>
              <a:t>• Makhana is already familiar, while chana and peanuts make the blend feel more like Indian namkeen than a supplement.</a:t>
            </a:r>
          </a:p>
          <a:p>
            <a:pPr>
              <a:spcAft>
                <a:spcPts val="500"/>
              </a:spcAft>
              <a:defRPr sz="1300">
                <a:solidFill>
                  <a:srgbClr val="202426"/>
                </a:solidFill>
                <a:latin typeface="Aptos"/>
              </a:defRPr>
            </a:pPr>
            <a:r>
              <a:rPr dirty="0"/>
              <a:t>• ₹59 keeps the trial price close to existing impulse-snack territory while offering a larger 40 g pack than several low-priced makhana options.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126480"/>
            <a:ext cx="1088136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dirty="0">
                <a:solidFill>
                  <a:srgbClr val="5C6366"/>
                </a:solidFill>
                <a:latin typeface="Aptos"/>
              </a:rPr>
              <a:t>Sources / assumptions: IBEF/</a:t>
            </a:r>
            <a:r>
              <a:rPr sz="800" b="0" dirty="0" err="1">
                <a:solidFill>
                  <a:srgbClr val="5C6366"/>
                </a:solidFill>
                <a:latin typeface="Aptos"/>
              </a:rPr>
              <a:t>Farmley</a:t>
            </a:r>
            <a:r>
              <a:rPr sz="800" b="0" dirty="0">
                <a:solidFill>
                  <a:srgbClr val="5C6366"/>
                </a:solidFill>
                <a:latin typeface="Aptos"/>
              </a:rPr>
              <a:t> consumer study, July 2025 IBEF FMCG/healthy-snacking market data, 2026.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1400" y="6428232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5C6366"/>
                </a:solidFill>
                <a:latin typeface="Apto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01752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307052"/>
                </a:solidFill>
                <a:latin typeface="Aptos"/>
              </a:rPr>
              <a:t>02 • WHO BUYS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02426"/>
                </a:solidFill>
                <a:latin typeface="Aptos"/>
              </a:rPr>
              <a:t>The core buyer is fitness-aware — but the product is designed for the whole household.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2057400" cy="2240280"/>
          </a:xfrm>
          <a:prstGeom prst="roundRect">
            <a:avLst/>
          </a:prstGeom>
          <a:solidFill>
            <a:srgbClr val="E2EFE6"/>
          </a:solidFill>
          <a:ln>
            <a:solidFill>
              <a:srgbClr val="D7D6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59" y="1965960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307052"/>
                </a:solidFill>
                <a:latin typeface="Aptos"/>
              </a:rPr>
              <a:t>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377440"/>
            <a:ext cx="1691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20" b="0">
                <a:solidFill>
                  <a:srgbClr val="202426"/>
                </a:solidFill>
                <a:latin typeface="Aptos"/>
              </a:rPr>
              <a:t>Young adults who want a better 4–6 PM or commute snack without paying protein-bar prices.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80360" y="1828800"/>
            <a:ext cx="20574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D7D6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063240" y="1965960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307052"/>
                </a:solidFill>
                <a:latin typeface="Aptos"/>
              </a:rPr>
              <a:t>SPORTS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2377440"/>
            <a:ext cx="1691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20" b="0">
                <a:solidFill>
                  <a:srgbClr val="202426"/>
                </a:solidFill>
                <a:latin typeface="Aptos"/>
              </a:rPr>
              <a:t>School/college athletes and recreational sports players who want a convenient snack around practice.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1828800"/>
            <a:ext cx="2057400" cy="2240280"/>
          </a:xfrm>
          <a:prstGeom prst="roundRect">
            <a:avLst/>
          </a:prstGeom>
          <a:solidFill>
            <a:srgbClr val="F7E8D7"/>
          </a:solidFill>
          <a:ln>
            <a:solidFill>
              <a:srgbClr val="D7D6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0" y="1965960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D27A31"/>
                </a:solidFill>
                <a:latin typeface="Aptos"/>
              </a:rPr>
              <a:t>FITNESS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2377440"/>
            <a:ext cx="1691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20" b="0">
                <a:solidFill>
                  <a:srgbClr val="202426"/>
                </a:solidFill>
                <a:latin typeface="Aptos"/>
              </a:rPr>
              <a:t>Gym-goers and fitness enthusiasts looking for a crunchy, portable snack.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60920" y="1828800"/>
            <a:ext cx="205740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D7D6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543800" y="1965960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307052"/>
                </a:solidFill>
                <a:latin typeface="Aptos"/>
              </a:rPr>
              <a:t>KIDS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43800" y="2377440"/>
            <a:ext cx="1691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20" b="0">
                <a:solidFill>
                  <a:srgbClr val="202426"/>
                </a:solidFill>
                <a:latin typeface="Aptos"/>
              </a:rPr>
              <a:t>For children: lunchbox / after-school positioning, subject to nutrition profile, age-appropriate formulation and FSSAI requirements.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1200" y="1828800"/>
            <a:ext cx="1920240" cy="2240280"/>
          </a:xfrm>
          <a:prstGeom prst="roundRect">
            <a:avLst/>
          </a:prstGeom>
          <a:solidFill>
            <a:srgbClr val="E2EFE6"/>
          </a:solidFill>
          <a:ln>
            <a:solidFill>
              <a:srgbClr val="D7D6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784080" y="196596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307052"/>
                </a:solidFill>
                <a:latin typeface="Aptos"/>
              </a:rPr>
              <a:t>HOME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2377440"/>
            <a:ext cx="1554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20" b="0">
                <a:solidFill>
                  <a:srgbClr val="202426"/>
                </a:solidFill>
                <a:latin typeface="Aptos"/>
              </a:rPr>
              <a:t>Parents, siblings and other household members can share the same pack.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49884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426"/>
                </a:solidFill>
                <a:latin typeface="Aptos"/>
              </a:rPr>
              <a:t>The positioning 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8920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307052"/>
                </a:solidFill>
                <a:latin typeface="Aptos"/>
              </a:rPr>
              <a:t>“A better everyday crunch — for your workout, your workday, or your family snack bowl.”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126480"/>
            <a:ext cx="1088136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dirty="0">
                <a:solidFill>
                  <a:srgbClr val="5C6366"/>
                </a:solidFill>
                <a:latin typeface="Aptos"/>
              </a:rPr>
              <a:t>Sources / assumptions: Target segments are project-defined. FSSAI requires nutrition/health claims to be truthful, substantiated and not misleading child-focused claims require additional care.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01400" y="6428232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5C6366"/>
                </a:solidFill>
                <a:latin typeface="Apto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01752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307052"/>
                </a:solidFill>
                <a:latin typeface="Aptos"/>
              </a:rPr>
              <a:t>03 • COMPETITIVE REALITY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02426"/>
                </a:solidFill>
                <a:latin typeface="Aptos"/>
              </a:rPr>
              <a:t>₹59 only works if the consumer can see what they get for the extra ₹19–₹20.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1907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07052"/>
                </a:solidFill>
                <a:latin typeface="Aptos"/>
              </a:rPr>
              <a:t>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719072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07052"/>
                </a:solidFill>
                <a:latin typeface="Aptos"/>
              </a:rPr>
              <a:t>PACK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0" y="171907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07052"/>
                </a:solidFill>
                <a:latin typeface="Aptos"/>
              </a:rPr>
              <a:t>PRICE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74920" y="1719072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07052"/>
                </a:solidFill>
                <a:latin typeface="Aptos"/>
              </a:rPr>
              <a:t>WHAT IT DOES WELL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719072"/>
            <a:ext cx="3063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307052"/>
                </a:solidFill>
                <a:latin typeface="Aptos"/>
              </a:rPr>
              <a:t>WHERE CRUNCH+ CAN DIFFER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011679"/>
            <a:ext cx="1101852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D7D6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084831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20" b="0">
                <a:solidFill>
                  <a:srgbClr val="202426"/>
                </a:solidFill>
                <a:latin typeface="Aptos"/>
              </a:rPr>
              <a:t>MOM Pudina Makhana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084831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20" b="0">
                <a:solidFill>
                  <a:srgbClr val="202426"/>
                </a:solidFill>
                <a:latin typeface="Aptos"/>
              </a:rPr>
              <a:t>20 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2084831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20" b="0">
                <a:solidFill>
                  <a:srgbClr val="202426"/>
                </a:solidFill>
                <a:latin typeface="Aptos"/>
              </a:rPr>
              <a:t>₹40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2084831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20" b="0">
                <a:solidFill>
                  <a:srgbClr val="202426"/>
                </a:solidFill>
                <a:latin typeface="Aptos"/>
              </a:rPr>
              <a:t>Low-price makhana entry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084831"/>
            <a:ext cx="3063240" cy="264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20" b="0" dirty="0">
                <a:solidFill>
                  <a:srgbClr val="202426"/>
                </a:solidFill>
                <a:latin typeface="Aptos"/>
              </a:rPr>
              <a:t>40 g blend broader snack occasion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2843784"/>
            <a:ext cx="1101852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D7D6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2916936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20" b="0">
                <a:solidFill>
                  <a:srgbClr val="202426"/>
                </a:solidFill>
                <a:latin typeface="Aptos"/>
              </a:rPr>
              <a:t>Too Yumm Makhana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2916936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20" b="0">
                <a:solidFill>
                  <a:srgbClr val="202426"/>
                </a:solidFill>
                <a:latin typeface="Aptos"/>
              </a:rPr>
              <a:t>16 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2916936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20" b="0">
                <a:solidFill>
                  <a:srgbClr val="202426"/>
                </a:solidFill>
                <a:latin typeface="Aptos"/>
              </a:rPr>
              <a:t>₹39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2916936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20" b="0">
                <a:solidFill>
                  <a:srgbClr val="202426"/>
                </a:solidFill>
                <a:latin typeface="Aptos"/>
              </a:rPr>
              <a:t>Very accessible impulse price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916936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20" b="0">
                <a:solidFill>
                  <a:srgbClr val="202426"/>
                </a:solidFill>
                <a:latin typeface="Aptos"/>
              </a:rPr>
              <a:t>Larger pack + makhana/chana/peanut blend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3675887"/>
            <a:ext cx="1101852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D7D6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3749039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20" b="0">
                <a:solidFill>
                  <a:srgbClr val="202426"/>
                </a:solidFill>
                <a:latin typeface="Aptos"/>
              </a:rPr>
              <a:t>Troovy Protein Makhana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3749039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20" b="0">
                <a:solidFill>
                  <a:srgbClr val="202426"/>
                </a:solidFill>
                <a:latin typeface="Aptos"/>
              </a:rPr>
              <a:t>40 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31920" y="3749039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20" b="0">
                <a:solidFill>
                  <a:srgbClr val="202426"/>
                </a:solidFill>
                <a:latin typeface="Aptos"/>
              </a:rPr>
              <a:t>₹40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74920" y="3749039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20" b="0">
                <a:solidFill>
                  <a:srgbClr val="202426"/>
                </a:solidFill>
                <a:latin typeface="Aptos"/>
              </a:rPr>
              <a:t>Protein positioning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3749039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20" b="0">
                <a:solidFill>
                  <a:srgbClr val="202426"/>
                </a:solidFill>
                <a:latin typeface="Aptos"/>
              </a:rPr>
              <a:t>₹59 can support stronger recipe, pack and flavour proposition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4507992"/>
            <a:ext cx="11018520" cy="713232"/>
          </a:xfrm>
          <a:prstGeom prst="roundRect">
            <a:avLst/>
          </a:prstGeom>
          <a:solidFill>
            <a:srgbClr val="E2EFE6"/>
          </a:solidFill>
          <a:ln>
            <a:solidFill>
              <a:srgbClr val="D7D6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0080" y="4581144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20" b="1">
                <a:solidFill>
                  <a:srgbClr val="202426"/>
                </a:solidFill>
                <a:latin typeface="Aptos"/>
              </a:rPr>
              <a:t>CRUNCH+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0" y="4581144"/>
            <a:ext cx="1051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20" b="1">
                <a:solidFill>
                  <a:srgbClr val="202426"/>
                </a:solidFill>
                <a:latin typeface="Aptos"/>
              </a:rPr>
              <a:t>40 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4581144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20" b="1">
                <a:solidFill>
                  <a:srgbClr val="202426"/>
                </a:solidFill>
                <a:latin typeface="Aptos"/>
              </a:rPr>
              <a:t>₹59*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74920" y="4581144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20" b="1">
                <a:solidFill>
                  <a:srgbClr val="202426"/>
                </a:solidFill>
                <a:latin typeface="Aptos"/>
              </a:rPr>
              <a:t>Protein-forward everyday snack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4581144"/>
            <a:ext cx="3063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20" b="1">
                <a:solidFill>
                  <a:srgbClr val="202426"/>
                </a:solidFill>
                <a:latin typeface="Aptos"/>
              </a:rPr>
              <a:t>Blend + household positioning + ₹59 value pack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559612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20" b="1">
                <a:solidFill>
                  <a:srgbClr val="202426"/>
                </a:solidFill>
                <a:latin typeface="Aptos"/>
              </a:rPr>
              <a:t>The superiority claim is therefore NOT “healthier than everyone”. It is: more usable as an everyday snack, with a bigger 40 g serving and a mixed-ingredient proposition at a still-accessible price.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6126480"/>
            <a:ext cx="10881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C6366"/>
                </a:solidFill>
                <a:latin typeface="Aptos"/>
              </a:rPr>
              <a:t>Sources / assumptions: Live product listings checked Sept 18–19, 2026: Blinkit/Zepto. Prices vary by platform, promotion and location. *CRUNCH+ price is proposed.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428232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5C6366"/>
                </a:solidFill>
                <a:latin typeface="Apto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01752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307052"/>
                </a:solidFill>
                <a:latin typeface="Aptos"/>
              </a:rPr>
              <a:t>04 • ₹59 PROFIT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02426"/>
                </a:solidFill>
                <a:latin typeface="Aptos"/>
              </a:rPr>
              <a:t>Where the ₹59 goes — and what the brand actually keeps.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C6366"/>
                </a:solidFill>
                <a:latin typeface="Aptos"/>
              </a:rPr>
              <a:t>This is a management model, not a supplier quotation. The HSN/GST classification and channel contracts must be validated before launch.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1874519" cy="1508760"/>
          </a:xfrm>
          <a:prstGeom prst="roundRect">
            <a:avLst/>
          </a:prstGeom>
          <a:solidFill>
            <a:srgbClr val="E2EFE6"/>
          </a:solidFill>
          <a:ln>
            <a:solidFill>
              <a:srgbClr val="D7D6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59" y="1965960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307052"/>
                </a:solidFill>
                <a:latin typeface="Aptos"/>
              </a:rPr>
              <a:t>MRP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377440"/>
            <a:ext cx="150876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20" b="0">
                <a:solidFill>
                  <a:srgbClr val="202426"/>
                </a:solidFill>
                <a:latin typeface="Aptos"/>
              </a:rPr>
              <a:t>₹59.00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1828800"/>
            <a:ext cx="1874519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7D6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360" y="1965960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307052"/>
                </a:solidFill>
                <a:latin typeface="Aptos"/>
              </a:rPr>
              <a:t>ILLUSTRATIVE TAX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2377440"/>
            <a:ext cx="150876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20" b="0">
                <a:solidFill>
                  <a:srgbClr val="202426"/>
                </a:solidFill>
                <a:latin typeface="Aptos"/>
              </a:rPr>
              <a:t>−₹2.81
(5% model assumption)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0" y="1828800"/>
            <a:ext cx="1874519" cy="1508760"/>
          </a:xfrm>
          <a:prstGeom prst="roundRect">
            <a:avLst/>
          </a:prstGeom>
          <a:solidFill>
            <a:srgbClr val="F7E8D7"/>
          </a:solidFill>
          <a:ln>
            <a:solidFill>
              <a:srgbClr val="D7D6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937760" y="1965960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D27A31"/>
                </a:solidFill>
                <a:latin typeface="Aptos"/>
              </a:rPr>
              <a:t>RETAILER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2377440"/>
            <a:ext cx="150876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20" b="0">
                <a:solidFill>
                  <a:srgbClr val="202426"/>
                </a:solidFill>
                <a:latin typeface="Aptos"/>
              </a:rPr>
              <a:t>−₹11.24
(20% of pre-tax)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2280" y="1828800"/>
            <a:ext cx="1874519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7D6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995160" y="1965960"/>
            <a:ext cx="1508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307052"/>
                </a:solidFill>
                <a:latin typeface="Aptos"/>
              </a:rPr>
              <a:t>DISTRIBUTOR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95160" y="2377440"/>
            <a:ext cx="150876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20" b="0">
                <a:solidFill>
                  <a:srgbClr val="202426"/>
                </a:solidFill>
                <a:latin typeface="Aptos"/>
              </a:rPr>
              <a:t>−₹5.62
(10% of pre-tax)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69680" y="1828800"/>
            <a:ext cx="2331720" cy="1508760"/>
          </a:xfrm>
          <a:prstGeom prst="roundRect">
            <a:avLst/>
          </a:prstGeom>
          <a:solidFill>
            <a:srgbClr val="E2EFE6"/>
          </a:solidFill>
          <a:ln>
            <a:solidFill>
              <a:srgbClr val="D7D6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52559" y="1965960"/>
            <a:ext cx="1965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307052"/>
                </a:solidFill>
                <a:latin typeface="Aptos"/>
              </a:rPr>
              <a:t>BRAND REALIZATION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59" y="2377440"/>
            <a:ext cx="196596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20" b="0">
                <a:solidFill>
                  <a:srgbClr val="202426"/>
                </a:solidFill>
                <a:latin typeface="Aptos"/>
              </a:rPr>
              <a:t>≈ ₹39.33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8862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426"/>
                </a:solidFill>
                <a:latin typeface="Aptos"/>
              </a:rPr>
              <a:t>Inside the brand's ₹39.33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3159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20" b="0">
                <a:solidFill>
                  <a:srgbClr val="202426"/>
                </a:solidFill>
                <a:latin typeface="Aptos"/>
              </a:rPr>
              <a:t>Ingredients + seasoning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31596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20" b="1">
                <a:solidFill>
                  <a:srgbClr val="202426"/>
                </a:solidFill>
                <a:latin typeface="Aptos"/>
              </a:rPr>
              <a:t>₹13.00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599431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20" b="0">
                <a:solidFill>
                  <a:srgbClr val="202426"/>
                </a:solidFill>
                <a:latin typeface="Aptos"/>
              </a:rPr>
              <a:t>Packaging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4599431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20" b="1">
                <a:solidFill>
                  <a:srgbClr val="202426"/>
                </a:solidFill>
                <a:latin typeface="Aptos"/>
              </a:rPr>
              <a:t>₹4.00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882895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20" b="0">
                <a:solidFill>
                  <a:srgbClr val="202426"/>
                </a:solidFill>
                <a:latin typeface="Aptos"/>
              </a:rPr>
              <a:t>Manufacturing / labour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4882895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20" b="1">
                <a:solidFill>
                  <a:srgbClr val="202426"/>
                </a:solidFill>
                <a:latin typeface="Aptos"/>
              </a:rPr>
              <a:t>₹4.50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166359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20" b="0">
                <a:solidFill>
                  <a:srgbClr val="202426"/>
                </a:solidFill>
                <a:latin typeface="Aptos"/>
              </a:rPr>
              <a:t>Freight + wastage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5166359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20" b="1">
                <a:solidFill>
                  <a:srgbClr val="202426"/>
                </a:solidFill>
                <a:latin typeface="Aptos"/>
              </a:rPr>
              <a:t>₹2.50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449823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20" b="0">
                <a:solidFill>
                  <a:srgbClr val="202426"/>
                </a:solidFill>
                <a:latin typeface="Aptos"/>
              </a:rPr>
              <a:t>Allocated launch marketing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7720" y="5449823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20" b="1">
                <a:solidFill>
                  <a:srgbClr val="202426"/>
                </a:solidFill>
                <a:latin typeface="Aptos"/>
              </a:rPr>
              <a:t>₹6.00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733287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20" b="0">
                <a:solidFill>
                  <a:srgbClr val="202426"/>
                </a:solidFill>
                <a:latin typeface="Aptos"/>
              </a:rPr>
              <a:t>Operating contribution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720" y="5733287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20" b="1">
                <a:solidFill>
                  <a:srgbClr val="307052"/>
                </a:solidFill>
                <a:latin typeface="Aptos"/>
              </a:rPr>
              <a:t>₹9.33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46520" y="4297680"/>
            <a:ext cx="4663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307052"/>
                </a:solidFill>
                <a:latin typeface="Aptos"/>
              </a:rPr>
              <a:t>≈ 15.8% of MRP becomes operating contribution after the modelled costs.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46520" y="5166360"/>
            <a:ext cx="4663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202426"/>
                </a:solidFill>
                <a:latin typeface="Aptos"/>
              </a:rPr>
              <a:t>Key lesson: at ₹59, cost discipline matters more than chasing a huge margin. Repeat purchase is what makes the model attractive.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6126480"/>
            <a:ext cx="1088136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dirty="0">
                <a:solidFill>
                  <a:srgbClr val="5C6366"/>
                </a:solidFill>
                <a:latin typeface="Aptos"/>
              </a:rPr>
              <a:t>Sources / assumptions: 5% GST is used only as a modelling assumption actual GST depends on final HSN/classification. Retailer/distributor margins and all cost lines are project assumptions.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01400" y="6428232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5C6366"/>
                </a:solidFill>
                <a:latin typeface="Apto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01752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307052"/>
                </a:solidFill>
                <a:latin typeface="Aptos"/>
              </a:rPr>
              <a:t>05 • WHERE &amp; HOW TO SELL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02426"/>
                </a:solidFill>
                <a:latin typeface="Aptos"/>
              </a:rPr>
              <a:t>Go where the snack moment already happens.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2606040" cy="2148840"/>
          </a:xfrm>
          <a:prstGeom prst="roundRect">
            <a:avLst/>
          </a:prstGeom>
          <a:solidFill>
            <a:srgbClr val="E2EFE6"/>
          </a:solidFill>
          <a:ln>
            <a:solidFill>
              <a:srgbClr val="D7D6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59" y="1965960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307052"/>
                </a:solidFill>
                <a:latin typeface="Aptos"/>
              </a:rPr>
              <a:t>QUICK COMMERCE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377440"/>
            <a:ext cx="2240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20" b="0">
                <a:solidFill>
                  <a:srgbClr val="202426"/>
                </a:solidFill>
                <a:latin typeface="Aptos"/>
              </a:rPr>
              <a:t>Blinkit / Zepto / Instamart
Best for: impulse + replenishment
Launch in Bengaluru first.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828800"/>
            <a:ext cx="260604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D7D6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11880" y="1965960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307052"/>
                </a:solidFill>
                <a:latin typeface="Aptos"/>
              </a:rPr>
              <a:t>GYMS + SPORTS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2377440"/>
            <a:ext cx="2240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20" b="0">
                <a:solidFill>
                  <a:srgbClr val="202426"/>
                </a:solidFill>
                <a:latin typeface="Aptos"/>
              </a:rPr>
              <a:t>Sampling near gyms, academies and sports clubs.
Best for: credibility + trial.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2606040" cy="2148840"/>
          </a:xfrm>
          <a:prstGeom prst="roundRect">
            <a:avLst/>
          </a:prstGeom>
          <a:solidFill>
            <a:srgbClr val="F7E8D7"/>
          </a:solidFill>
          <a:ln>
            <a:solidFill>
              <a:srgbClr val="D7D6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1965960"/>
            <a:ext cx="2240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D27A31"/>
                </a:solidFill>
                <a:latin typeface="Aptos"/>
              </a:rPr>
              <a:t>OFFICES + CAMPUSES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377440"/>
            <a:ext cx="2240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20" b="0">
                <a:solidFill>
                  <a:srgbClr val="202426"/>
                </a:solidFill>
                <a:latin typeface="Aptos"/>
              </a:rPr>
              <a:t>Cafés, vending, college stores and office clusters.
Best for: daily snack occasions.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6840" y="1828800"/>
            <a:ext cx="2514600" cy="2148840"/>
          </a:xfrm>
          <a:prstGeom prst="roundRect">
            <a:avLst/>
          </a:prstGeom>
          <a:solidFill>
            <a:srgbClr val="FFFFFF"/>
          </a:solidFill>
          <a:ln>
            <a:solidFill>
              <a:srgbClr val="D7D6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89719" y="1965960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307052"/>
                </a:solidFill>
                <a:latin typeface="Aptos"/>
              </a:rPr>
              <a:t>HOME / RETAIL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9719" y="2377440"/>
            <a:ext cx="2148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20" b="0">
                <a:solidFill>
                  <a:srgbClr val="202426"/>
                </a:solidFill>
                <a:latin typeface="Aptos"/>
              </a:rPr>
              <a:t>Modern trade + neighbourhood stores after repeat demand is proven.
Best for: household penetration.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4348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426"/>
                </a:solidFill>
                <a:latin typeface="Aptos"/>
              </a:rPr>
              <a:t>City rollout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800600"/>
            <a:ext cx="104241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50">
                <a:solidFill>
                  <a:srgbClr val="202426"/>
                </a:solidFill>
                <a:latin typeface="Aptos"/>
              </a:defRPr>
            </a:pPr>
            <a:r>
              <a:t>• Bengaluru: 90-day pilot.</a:t>
            </a:r>
          </a:p>
          <a:p>
            <a:pPr>
              <a:spcAft>
                <a:spcPts val="500"/>
              </a:spcAft>
              <a:defRPr sz="1350">
                <a:solidFill>
                  <a:srgbClr val="202426"/>
                </a:solidFill>
                <a:latin typeface="Aptos"/>
              </a:defRPr>
            </a:pPr>
            <a:r>
              <a:t>• Hyderabad + Pune: enter after the first repeat-purchase gate.</a:t>
            </a:r>
          </a:p>
          <a:p>
            <a:pPr>
              <a:spcAft>
                <a:spcPts val="500"/>
              </a:spcAft>
              <a:defRPr sz="1350">
                <a:solidFill>
                  <a:srgbClr val="202426"/>
                </a:solidFill>
                <a:latin typeface="Aptos"/>
              </a:defRPr>
            </a:pPr>
            <a:r>
              <a:t>• Mumbai + Delhi NCR: expansion only after unit economics and repeat rates hold.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126480"/>
            <a:ext cx="1088136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dirty="0">
                <a:solidFill>
                  <a:srgbClr val="5C6366"/>
                </a:solidFill>
                <a:latin typeface="Aptos"/>
              </a:rPr>
              <a:t>Sources / assumptions: NIQ/IBEF reports e-commerce at about 18% of FMCG sales across India's top eight metros in Oct–Dec 2025 city sequence is a project inference.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28232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5C6366"/>
                </a:solidFill>
                <a:latin typeface="Apto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01752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307052"/>
                </a:solidFill>
                <a:latin typeface="Aptos"/>
              </a:rPr>
              <a:t>06 • 90-DAY PROMOTION &amp; BUDGET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02426"/>
                </a:solidFill>
                <a:latin typeface="Aptos"/>
              </a:rPr>
              <a:t>Spend the first ₹30 lakh on learning, trial and repeat — not just impressions.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10512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02426"/>
                </a:solidFill>
                <a:latin typeface="Aptos"/>
              </a:rPr>
              <a:t>Digital performance ads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60520" y="1837943"/>
            <a:ext cx="4800600" cy="201168"/>
          </a:xfrm>
          <a:prstGeom prst="rect">
            <a:avLst/>
          </a:prstGeom>
          <a:solidFill>
            <a:srgbClr val="307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89720" y="179222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20" b="1">
                <a:solidFill>
                  <a:srgbClr val="202426"/>
                </a:solidFill>
                <a:latin typeface="Aptos"/>
              </a:rPr>
              <a:t>₹6.5L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40280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02426"/>
                </a:solidFill>
                <a:latin typeface="Aptos"/>
              </a:rPr>
              <a:t>Micro-influencers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2267712"/>
            <a:ext cx="2954215" cy="201168"/>
          </a:xfrm>
          <a:prstGeom prst="rect">
            <a:avLst/>
          </a:prstGeom>
          <a:solidFill>
            <a:srgbClr val="307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89720" y="222199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20" b="1">
                <a:solidFill>
                  <a:srgbClr val="202426"/>
                </a:solidFill>
                <a:latin typeface="Aptos"/>
              </a:rPr>
              <a:t>₹4.0L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70048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02426"/>
                </a:solidFill>
                <a:latin typeface="Aptos"/>
              </a:rPr>
              <a:t>Sampling / sports &amp; gym trials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60520" y="2697479"/>
            <a:ext cx="3692769" cy="201168"/>
          </a:xfrm>
          <a:prstGeom prst="rect">
            <a:avLst/>
          </a:prstGeom>
          <a:solidFill>
            <a:srgbClr val="307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89720" y="26517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20" b="1">
                <a:solidFill>
                  <a:srgbClr val="202426"/>
                </a:solidFill>
                <a:latin typeface="Aptos"/>
              </a:rPr>
              <a:t>₹5.0L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099815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02426"/>
                </a:solidFill>
                <a:latin typeface="Aptos"/>
              </a:rPr>
              <a:t>Quick-commerce visibility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0520" y="3127247"/>
            <a:ext cx="3323492" cy="201168"/>
          </a:xfrm>
          <a:prstGeom prst="rect">
            <a:avLst/>
          </a:prstGeom>
          <a:solidFill>
            <a:srgbClr val="307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89720" y="3081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20" b="1">
                <a:solidFill>
                  <a:srgbClr val="202426"/>
                </a:solidFill>
                <a:latin typeface="Aptos"/>
              </a:rPr>
              <a:t>₹4.5L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29583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02426"/>
                </a:solidFill>
                <a:latin typeface="Aptos"/>
              </a:rPr>
              <a:t>Retail POS / placement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60520" y="3557015"/>
            <a:ext cx="1846384" cy="201168"/>
          </a:xfrm>
          <a:prstGeom prst="rect">
            <a:avLst/>
          </a:prstGeom>
          <a:solidFill>
            <a:srgbClr val="307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89720" y="351129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20" b="1">
                <a:solidFill>
                  <a:srgbClr val="202426"/>
                </a:solidFill>
                <a:latin typeface="Aptos"/>
              </a:rPr>
              <a:t>₹2.5L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959351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02426"/>
                </a:solidFill>
                <a:latin typeface="Aptos"/>
              </a:rPr>
              <a:t>Creative + content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60520" y="3986783"/>
            <a:ext cx="1477107" cy="201168"/>
          </a:xfrm>
          <a:prstGeom prst="rect">
            <a:avLst/>
          </a:prstGeom>
          <a:solidFill>
            <a:srgbClr val="307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89720" y="394106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20" b="1">
                <a:solidFill>
                  <a:srgbClr val="202426"/>
                </a:solidFill>
                <a:latin typeface="Aptos"/>
              </a:rPr>
              <a:t>₹2.0L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389119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02426"/>
                </a:solidFill>
                <a:latin typeface="Aptos"/>
              </a:rPr>
              <a:t>Consumer research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0520" y="4416551"/>
            <a:ext cx="1477107" cy="201168"/>
          </a:xfrm>
          <a:prstGeom prst="rect">
            <a:avLst/>
          </a:prstGeom>
          <a:solidFill>
            <a:srgbClr val="307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89720" y="43708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20" b="1">
                <a:solidFill>
                  <a:srgbClr val="202426"/>
                </a:solidFill>
                <a:latin typeface="Aptos"/>
              </a:rPr>
              <a:t>₹2.0L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818887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202426"/>
                </a:solidFill>
                <a:latin typeface="Aptos"/>
              </a:rPr>
              <a:t>Contingency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60520" y="4846319"/>
            <a:ext cx="2584938" cy="201168"/>
          </a:xfrm>
          <a:prstGeom prst="rect">
            <a:avLst/>
          </a:prstGeom>
          <a:solidFill>
            <a:srgbClr val="307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189720" y="480059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20" b="1">
                <a:solidFill>
                  <a:srgbClr val="202426"/>
                </a:solidFill>
                <a:latin typeface="Aptos"/>
              </a:rPr>
              <a:t>₹3.5L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81160" y="535838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5C6366"/>
                </a:solidFill>
                <a:latin typeface="Aptos"/>
              </a:rPr>
              <a:t>TOTAL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04120" y="5285232"/>
            <a:ext cx="1325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700" b="1">
                <a:solidFill>
                  <a:srgbClr val="D27A31"/>
                </a:solidFill>
                <a:latin typeface="Aptos"/>
              </a:rPr>
              <a:t>₹30.0 Lakh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66928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07052"/>
                </a:solidFill>
                <a:latin typeface="Aptos"/>
              </a:rPr>
              <a:t>Campaign idea: “Snack Break, Upgraded”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971032"/>
            <a:ext cx="9966960" cy="258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" b="0" dirty="0">
                <a:solidFill>
                  <a:srgbClr val="5C6366"/>
                </a:solidFill>
                <a:latin typeface="Aptos"/>
              </a:rPr>
              <a:t>Show real moments: gym → office → school/college → family tea time. The message is not “be </a:t>
            </a:r>
            <a:r>
              <a:rPr sz="1080" b="0" dirty="0" err="1">
                <a:solidFill>
                  <a:srgbClr val="5C6366"/>
                </a:solidFill>
                <a:latin typeface="Aptos"/>
              </a:rPr>
              <a:t>healthy”it</a:t>
            </a:r>
            <a:r>
              <a:rPr sz="1080" b="0" dirty="0">
                <a:solidFill>
                  <a:srgbClr val="5C6366"/>
                </a:solidFill>
                <a:latin typeface="Aptos"/>
              </a:rPr>
              <a:t> is “swap one ordinary snack for a better one.”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01400" y="6428232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5C6366"/>
                </a:solidFill>
                <a:latin typeface="Apto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01752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307052"/>
                </a:solidFill>
                <a:latin typeface="Aptos"/>
              </a:rPr>
              <a:t>07 • LAUNCH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202426"/>
                </a:solidFill>
                <a:latin typeface="Aptos"/>
              </a:rPr>
              <a:t>The project wins only if people buy it twice.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2560320" cy="1965960"/>
          </a:xfrm>
          <a:prstGeom prst="roundRect">
            <a:avLst/>
          </a:prstGeom>
          <a:solidFill>
            <a:srgbClr val="E2EFE6"/>
          </a:solidFill>
          <a:ln>
            <a:solidFill>
              <a:srgbClr val="D7D6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59" y="196596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307052"/>
                </a:solidFill>
                <a:latin typeface="Aptos"/>
              </a:rPr>
              <a:t>TRIAL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377440"/>
            <a:ext cx="2194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20" b="0">
                <a:solidFill>
                  <a:srgbClr val="202426"/>
                </a:solidFill>
                <a:latin typeface="Aptos"/>
              </a:rPr>
              <a:t>20,000+ packs in 90 days
Track by city, channel and flavour.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1828800"/>
            <a:ext cx="256032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D7D6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566160" y="196596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307052"/>
                </a:solidFill>
                <a:latin typeface="Aptos"/>
              </a:rPr>
              <a:t>REPEAT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377440"/>
            <a:ext cx="2194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20" b="0">
                <a:solidFill>
                  <a:srgbClr val="202426"/>
                </a:solidFill>
                <a:latin typeface="Aptos"/>
              </a:rPr>
              <a:t>Target 25%+ repeat among identifiable buyers.
If low → fix taste/price/pack.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828800"/>
            <a:ext cx="2560320" cy="1965960"/>
          </a:xfrm>
          <a:prstGeom prst="roundRect">
            <a:avLst/>
          </a:prstGeom>
          <a:solidFill>
            <a:srgbClr val="F7E8D7"/>
          </a:solidFill>
          <a:ln>
            <a:solidFill>
              <a:srgbClr val="D7D6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09360" y="196596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D27A31"/>
                </a:solidFill>
                <a:latin typeface="Aptos"/>
              </a:rPr>
              <a:t>MARGIN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377440"/>
            <a:ext cx="2194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20" b="0">
                <a:solidFill>
                  <a:srgbClr val="202426"/>
                </a:solidFill>
                <a:latin typeface="Aptos"/>
              </a:rPr>
              <a:t>Keep the ₹59 model contribution-positive after channel costs.
If weak → reduce CAC or COGS.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69680" y="1828800"/>
            <a:ext cx="256032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D7D6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052559" y="196596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307052"/>
                </a:solidFill>
                <a:latin typeface="Aptos"/>
              </a:rPr>
              <a:t>SCALE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59" y="2377440"/>
            <a:ext cx="2194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20" b="0">
                <a:solidFill>
                  <a:srgbClr val="202426"/>
                </a:solidFill>
                <a:latin typeface="Aptos"/>
              </a:rPr>
              <a:t>Add Hyderabad + Pune only after the pilot gate is passed.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31596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02426"/>
                </a:solidFill>
                <a:latin typeface="Aptos"/>
              </a:rPr>
              <a:t>What makes CRUNCH+ different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681728"/>
            <a:ext cx="106070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80">
                <a:solidFill>
                  <a:srgbClr val="202426"/>
                </a:solidFill>
                <a:latin typeface="Aptos"/>
              </a:defRPr>
            </a:pPr>
            <a:r>
              <a:t>• Not a medical or supplement product.</a:t>
            </a:r>
          </a:p>
          <a:p>
            <a:pPr>
              <a:spcAft>
                <a:spcPts val="500"/>
              </a:spcAft>
              <a:defRPr sz="1280">
                <a:solidFill>
                  <a:srgbClr val="202426"/>
                </a:solidFill>
                <a:latin typeface="Aptos"/>
              </a:defRPr>
            </a:pPr>
            <a:r>
              <a:t>• Not only for gym-goers: the same pack can sit in a school/college bag, office drawer or home snack bowl.</a:t>
            </a:r>
          </a:p>
          <a:p>
            <a:pPr>
              <a:spcAft>
                <a:spcPts val="500"/>
              </a:spcAft>
              <a:defRPr sz="1280">
                <a:solidFill>
                  <a:srgbClr val="202426"/>
                </a:solidFill>
                <a:latin typeface="Aptos"/>
              </a:defRPr>
            </a:pPr>
            <a:r>
              <a:t>• Not positioned as “the healthiest” — superiority is based on the combination of price, pack size, familiar ingredients and use occasions.</a:t>
            </a:r>
          </a:p>
          <a:p>
            <a:pPr>
              <a:spcAft>
                <a:spcPts val="500"/>
              </a:spcAft>
              <a:defRPr sz="1280">
                <a:solidFill>
                  <a:srgbClr val="202426"/>
                </a:solidFill>
                <a:latin typeface="Aptos"/>
              </a:defRPr>
            </a:pPr>
            <a:r>
              <a:t>• Any protein/health claim and child-facing communication must be validated against the final formulation and FSSAI rules.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126480"/>
            <a:ext cx="1088136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 dirty="0">
                <a:solidFill>
                  <a:srgbClr val="5C6366"/>
                </a:solidFill>
                <a:latin typeface="Aptos"/>
              </a:rPr>
              <a:t>Sources / assumptions: FSSAI Advertising &amp; Claims regulations </a:t>
            </a:r>
            <a:r>
              <a:rPr lang="en-IN" sz="800" b="0" dirty="0">
                <a:solidFill>
                  <a:srgbClr val="5C6366"/>
                </a:solidFill>
                <a:latin typeface="Aptos"/>
              </a:rPr>
              <a:t>l</a:t>
            </a:r>
            <a:r>
              <a:rPr sz="800" b="0" dirty="0" err="1">
                <a:solidFill>
                  <a:srgbClr val="5C6366"/>
                </a:solidFill>
                <a:latin typeface="Aptos"/>
              </a:rPr>
              <a:t>ive</a:t>
            </a:r>
            <a:r>
              <a:rPr sz="800" b="0" dirty="0">
                <a:solidFill>
                  <a:srgbClr val="5C6366"/>
                </a:solidFill>
                <a:latin typeface="Aptos"/>
              </a:rPr>
              <a:t> competitor listings IBEF/</a:t>
            </a:r>
            <a:r>
              <a:rPr sz="800" b="0" dirty="0" err="1">
                <a:solidFill>
                  <a:srgbClr val="5C6366"/>
                </a:solidFill>
                <a:latin typeface="Aptos"/>
              </a:rPr>
              <a:t>Farmley</a:t>
            </a:r>
            <a:r>
              <a:rPr sz="800" b="0" dirty="0">
                <a:solidFill>
                  <a:srgbClr val="5C6366"/>
                </a:solidFill>
                <a:latin typeface="Aptos"/>
              </a:rPr>
              <a:t> healthy-snacking study. Targets and strategy are project assumptions.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01400" y="6428232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>
                <a:solidFill>
                  <a:srgbClr val="5C6366"/>
                </a:solidFill>
                <a:latin typeface="Aptos"/>
              </a:rPr>
              <a:t>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1294</Words>
  <Application>Microsoft Office PowerPoint</Application>
  <PresentationFormat>Widescreen</PresentationFormat>
  <Paragraphs>161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Yashi Gupta</cp:lastModifiedBy>
  <cp:revision>3</cp:revision>
  <dcterms:created xsi:type="dcterms:W3CDTF">2013-01-27T09:14:16Z</dcterms:created>
  <dcterms:modified xsi:type="dcterms:W3CDTF">2026-09-19T10:23:06Z</dcterms:modified>
  <cp:category/>
</cp:coreProperties>
</file>